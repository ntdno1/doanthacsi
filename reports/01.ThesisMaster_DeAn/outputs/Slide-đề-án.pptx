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74552" y="4572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31752" y="4572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9436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4008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31752" y="59436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4552" y="64008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VIỆN CÔNG NGHỆ BƯU CHÍNH VIỄN THÔNG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và theo dõi vật thể nhỏ,</a:t>
            </a:r>
            <a:endParaRPr lang="en-US" sz="2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động nhanh trong video thể thao đơn camera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4443984" y="4224528"/>
            <a:ext cx="3291840" cy="402336"/>
          </a:xfrm>
          <a:prstGeom prst="rect">
            <a:avLst/>
          </a:prstGeom>
          <a:solidFill>
            <a:srgbClr val="1B335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42245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ngành: Khoa học Máy tính  ·  Mã số: 8.48.01.01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49834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Thanh Phong
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hướng dẫn khoa học: </a:t>
            </a:r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Đào Thị Thúy Quỳnh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I.1 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Lý do chọn đề tài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bóng/cầu, tần suất đánh bóng và vị trí di chuyển là dữ liệu quan trọng cho huấn luyện và phân tích chiến thuật trong tennis, cầu lông.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hệ thống chuyên nghiệp (Hawk-Eye…) dùng đa camera tốc độ cao + cảm biến chuyên dụng — chi phí rất lớn, chỉ phù hợp giải đấu đỉnh cao.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sâu trong computer vision (YOLO, Faster R-CNN, DETR/RT-DETR) mở ra khả năng phân tích video chỉ với một camera thông thường, không cần phần cứng đặc thù.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12233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1783080"/>
            <a:ext cx="182880" cy="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783080"/>
            <a:ext cx="0" cy="18288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783080"/>
            <a:ext cx="182880" cy="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0" y="1783080"/>
            <a:ext cx="0" cy="18288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3154680"/>
            <a:ext cx="0" cy="18288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3337560"/>
            <a:ext cx="182880" cy="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0" y="3154680"/>
            <a:ext cx="0" cy="18288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0" y="3337560"/>
            <a:ext cx="182880" cy="0"/>
          </a:xfrm>
          <a:prstGeom prst="line">
            <a:avLst/>
          </a:prstGeom>
          <a:noFill/>
          <a:ln w="20117">
            <a:solidFill>
              <a:srgbClr val="C6F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NỀN: MATCH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22402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có: phát hiện người chơi (YOLO), phát hiện bóng (YOLO fine-tuned), keypoints sân (CNN/ResNet), quy đổi mini-court, ước lượng tốc độ, xuất video kết quả.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3401568"/>
            <a:ext cx="4023360" cy="0"/>
          </a:xfrm>
          <a:prstGeom prst="line">
            <a:avLst/>
          </a:prstGeom>
          <a:noFill/>
          <a:ln w="12700">
            <a:solidFill>
              <a:srgbClr val="2A4A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3566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THẮT CỐT LÕI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39136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phát hiện bóng/cầu — vật thể rất nhỏ, di chuyển tốc độ cao — vẫn là điểm yếu, giới hạn toàn bộ pipeline phân tích.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I.2 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về vấn đề nghiên cứu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đầu vào chỉ là video một camera thông thường, làm sao phát hiện chính xác vật thể rất nhỏ, di chuyển nhanh (bóng/cầu), đồng thời giữ ổn định theo dõi người chơi và ước lượng đúng thông số chuyển động?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953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Kích thước cực nhỏ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411480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Bóng/cầu chiếm rất ít pixel trong khung hình, dễ bị bỏ sót.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69748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953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611880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blur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11880" y="411480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di chuyển cao gây nhoè ảnh, khó nhận diện đặc trưng.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269748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2953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3611880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khuất / mất dấu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73952" y="411480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thể có thể biến mất qua nhiều frame liên tiếp.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69748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63456" y="2953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363456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36024" y="3611880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số lan truyền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36024" y="4114800"/>
            <a:ext cx="2295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tốc độ phụ thuộc chất lượng detection + keypoints sân.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TrackNet (heatmap học sâu, dùng chuỗi frame) đã chứng minh hướng đi này khả thi; nghiên cứu gần đây kết hợp YOLO + mô hình bóng chuyên biệt + keypoints sân — nhưng phát hiện bóng vẫn kém ổn định nhất. Đề tài so sánh có hệ thống nhiều họ object detection và temporal modeling để tìm cấu hình tối ưu.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I.3 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đích nghiên cứu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pipeline phân tích video tennis/cầu lông tự động (nhận diện, theo dõi, tính thông số trận đấu) trên video quay bằng một camera thông thường — đồng thời xác định có căn cứ khoa học cấu hình mô hình detection/tracking phù hợp nhất cho từng thành phần.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35808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4320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&amp; theo dõi hai người chơi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3035808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274320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bóng tennis / cầu lông theo frame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05072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712464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suy vị trí bóng khi mất detection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712464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4005072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3712464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keypoints sân (mặt phẳng quy chiếu)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8172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74336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681728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người chơi &amp; bóng lên mini-court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468172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974336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4681728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thời điểm đánh bóng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50992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943600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5650992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tốc độ bóng, tốc độ người chơi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5650992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5943600"/>
            <a:ext cx="256032" cy="256032"/>
          </a:xfrm>
          <a:prstGeom prst="ellipse">
            <a:avLst/>
          </a:prstGeom>
          <a:solidFill>
            <a:srgbClr val="C6FF33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5650992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nhiều mô hình object detection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I.4 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tượng và phạm vi nghiên cứu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0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nghiên cứu: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họ object detection (YOLO, Detection Transformer, two-stage), mô hình segmentation/keypoint sân thi đấu, thuật toán tracking &amp; temporal modeling (Kalman Filter, optical flow, ByteTrack/BoT-SORT/DeepSORT) — áp dụng trên video tennis, cầu lông quay từ một camera đơn.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2958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3529584" cy="50292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vào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429000"/>
            <a:ext cx="30175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tennis, cầu lông (góc quay tương đối ổn định)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bóng/cầu định dạng YOLO (train/valid/test)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keypoint sân đã huấn luyện / có thể fine-tune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2743200"/>
            <a:ext cx="352958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2743200"/>
            <a:ext cx="3529584" cy="50292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315968" y="274320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30175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đã annotate: bbox người chơi, bóng, keypoints, mini-court, bảng thống kê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mô hình phát hiện bóng tốt nhất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đánh giá mAP, precision, recall, tốc độ inference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2743200"/>
            <a:ext cx="352958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2743200"/>
            <a:ext cx="352958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83296" y="274320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hạn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3429000"/>
            <a:ext cx="30175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xử lý tốt mọi góc quay phức tạp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Bóng/cầu rất nhỏ, dễ motion blur / che khuất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single-camera — chưa multi-camera reconstruction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I.5–I.6 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 nghiên cứu &amp; Ý nghĩa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PHÁP: THỰC NGHIỆM SO SÁNH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23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baseline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5400000">
            <a:off x="3118104" y="2519172"/>
            <a:ext cx="219456" cy="219456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8" name="Shape 6"/>
          <p:cNvSpPr/>
          <p:nvPr/>
        </p:nvSpPr>
        <p:spPr>
          <a:xfrm>
            <a:off x="3447288" y="20116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201168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/ bổ sung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họ mô hình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6016752" y="2519172"/>
            <a:ext cx="219456" cy="219456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11" name="Shape 9"/>
          <p:cNvSpPr/>
          <p:nvPr/>
        </p:nvSpPr>
        <p:spPr>
          <a:xfrm>
            <a:off x="6345936" y="20116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01168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trên cùng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chỉ số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915400" y="2519172"/>
            <a:ext cx="219456" cy="219456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14" name="Shape 12"/>
          <p:cNvSpPr/>
          <p:nvPr/>
        </p:nvSpPr>
        <p:spPr>
          <a:xfrm>
            <a:off x="9244584" y="20116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381744" y="201168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 cấu hình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nhất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đánh giá: Precision · Recall · mAP50 · mAP50-95 · FPS (inference time)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KHOA HỌC &amp; THỰC TIỄN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365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Khoa học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50749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hoá bằng chứng thực nghiệm về mức độ phù hợp của các họ object detection/tracking hiện đại cho bài toán vật thể rất nhỏ, tốc độ cao — vốn ít có so sánh trực tiếp, đầy đủ.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461772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7365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tiễn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50749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trực tiếp Match Analysis; tài liệu tham khảo cho CLB phong trào chi phí thấp; nền tảng mở rộng sang bóng bàn, cầu lông chuyên nghiệp.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CƠ SỞ LÝ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tổng quan &amp; Baseline hiện tại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video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tách frame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1847088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9384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8" name="Text 6"/>
          <p:cNvSpPr/>
          <p:nvPr/>
        </p:nvSpPr>
        <p:spPr>
          <a:xfrm>
            <a:off x="1975104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chơi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27832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bóng/cầu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608576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suy vị trí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 thiếu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989320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sân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370064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mini-court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750808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33104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23" name="Text 21"/>
          <p:cNvSpPr/>
          <p:nvPr/>
        </p:nvSpPr>
        <p:spPr>
          <a:xfrm>
            <a:off x="8878824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đánh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10131552" y="2217420"/>
            <a:ext cx="82296" cy="0"/>
          </a:xfrm>
          <a:prstGeom prst="line">
            <a:avLst/>
          </a:prstGeom>
          <a:noFill/>
          <a:ln w="15240">
            <a:solidFill>
              <a:srgbClr val="5D6B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3848" y="169164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59568" y="16916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tốc độ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thống kê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tô đậm = trọng tâm cải tiến của đề tài (phát hiện bóng/cầu nhỏ, tốc độ cao)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HIỆN TẠI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chơi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" y="4434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 / YOLOv8x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3410712" y="38862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 / cầu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93592" y="4434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fine-tuned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272784" y="38862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sân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55664" y="4434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 / CNN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9134856" y="388620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17736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Quỹ đạo bóng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317736" y="4434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+ Interpolation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YOLO làm baseline: inference nhanh, dễ fine-tune, tooling (Ultralytics) tốt với dataset định dạng YOLO.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TỔNG QUAN VẤN ĐỀ NGHIÊN CỨU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họ mô hình Object Detection so sánh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27632"/>
            <a:ext cx="73152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7393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· anchor-free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YOLOv8n/s/m (baseline nhẹ), YOLOv5l6u/YOLOv8x (mạnh hơn cho vật thể nhỏ), YOLOv10/v11 (phiên bản mới).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Nhanh, dễ fine-tune, hệ sinh thái Ultralytics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27632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27632"/>
            <a:ext cx="73152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7393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Transformer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13969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· set prediction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(real-time, giảm phụ thuộc NMS); RF-DETR đề xuất cho phiên bản sau.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3924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NMS — tốt cho vật thể nhỏ nằm gần nhau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41064"/>
            <a:ext cx="73152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873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Detector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445312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 + refine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78231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làm benchmark offline, đối chiếu độ chính xác với YOLO/RT-DETR.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70585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xác cao, tốc độ chậm hơn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941064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941064"/>
            <a:ext cx="73152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0873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/ Keypoint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46520" y="445312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&amp; landmark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478231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/ YOLO-seg cho người chơi &amp; sân; HRNet/ViTPose/Keypoint R-CNN cho keypoints sân.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570585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homography chính xác hơn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TỔNG QUAN VẤN ĐỀ NGHIÊN CỨU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&amp; Temporal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Tracking-by-detection: chạy detector mỗi frame, sau đó liên kết (associate) các bounding box giữa các frame liên tiếp dựa trên vị trí, hình dạng và đặc trưng ngoại hình.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1223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334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Data-association Trackers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4983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ByteTrack, BoT-SORT, DeepSORT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Kalman Filter + thuật toán Hungarian, có/không đặc trưng ngoại hình học sâu.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mất ID, thống kê liên tục hơn.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 di chuyển nhanh, nhỏ → dễ mất track.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46888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6334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Quỹ đạo &amp; Nội suy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3063240"/>
            <a:ext cx="4983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Filter, Optical Flow, Interpolation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mượt quỹ đạo bóng, nội suy vị trí khi mất detection ở một số frame.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nhẹ, dễ tích hợp vào pipeline hiện tại.
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sai khi bóng đổi hướng nhanh sau cú đánh.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PHƯƠNG PHÁP THỰC HIỆN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thực nghiệm — 5 vòng thử nghiệm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12233F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1920240"/>
            <a:ext cx="548640" cy="548640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nhanh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38328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YOLOv8n (100 epoch); xác nhận pipeline train/validate/export đúng.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 rot="5400000">
            <a:off x="2651760" y="3223260"/>
            <a:ext cx="182880" cy="182880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10" name="Shape 8"/>
          <p:cNvSpPr/>
          <p:nvPr/>
        </p:nvSpPr>
        <p:spPr>
          <a:xfrm>
            <a:off x="2761488" y="16916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529584" y="1920240"/>
            <a:ext cx="548640" cy="548640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98648" y="26517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độ chính xác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26080" y="338328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YOLOv8s/m, YOLOv5l6u; tăng image size; so sánh mAP &amp; recall.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64608" y="3223260"/>
            <a:ext cx="182880" cy="182880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16" name="Shape 14"/>
          <p:cNvSpPr/>
          <p:nvPr/>
        </p:nvSpPr>
        <p:spPr>
          <a:xfrm>
            <a:off x="4974336" y="16916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12233F"/>
          </a:solidFill>
          <a:ln/>
        </p:spPr>
      </p:sp>
      <p:sp>
        <p:nvSpPr>
          <p:cNvPr id="17" name="Shape 15"/>
          <p:cNvSpPr/>
          <p:nvPr/>
        </p:nvSpPr>
        <p:spPr>
          <a:xfrm>
            <a:off x="5742432" y="1920240"/>
            <a:ext cx="548640" cy="548640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11496" y="26517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 thiện temporal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38928" y="338328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interpolation / Kalman Filter / optical flow; đánh giá độ mượt quỹ đạo.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 rot="5400000">
            <a:off x="7077456" y="3223260"/>
            <a:ext cx="182880" cy="182880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22" name="Shape 20"/>
          <p:cNvSpPr/>
          <p:nvPr/>
        </p:nvSpPr>
        <p:spPr>
          <a:xfrm>
            <a:off x="7187184" y="16916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24344" y="26517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thay thế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51776" y="338328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RT-DETR; dự phòng RF-DETR, Faster R-CNN làm benchmark offline.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90304" y="3223260"/>
            <a:ext cx="182880" cy="182880"/>
          </a:xfrm>
          <a:prstGeom prst="triangle">
            <a:avLst/>
          </a:prstGeom>
          <a:solidFill>
            <a:srgbClr val="5D6B79"/>
          </a:solidFill>
          <a:ln/>
        </p:spPr>
      </p:sp>
      <p:sp>
        <p:nvSpPr>
          <p:cNvPr id="28" name="Shape 26"/>
          <p:cNvSpPr/>
          <p:nvPr/>
        </p:nvSpPr>
        <p:spPr>
          <a:xfrm>
            <a:off x="9400032" y="16916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12233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68128" y="1920240"/>
            <a:ext cx="548640" cy="548640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812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37192" y="26517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pipeline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64624" y="3383280"/>
            <a:ext cx="17556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weight tốt nhất vào hệ thống chính; xuất video &amp; bảng kết quả cuối.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&amp; công cụ: Python · PyTorch · Ultralytics  ·  Roboflow (quản lý &amp; export dataset YOLO)  ·  Google Colab (GPU T4) / máy trạm GPU cá nhân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cường dữ liệu: Mosaic · Random scale/crop · Color jitter · Motion-blur augmentation (mô phỏng nhoè do tốc độ cao)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THỰC NGHIỆM VÀ ĐÁNH GIÁ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thức &amp; Tiêu chí đánh giá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27632"/>
            <a:ext cx="5440680" cy="50292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thức thực nghiệm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cách chia train/valid/test, cùng cấu hình phần cứng cho mọi mô hình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huấn luyện 2–3 lần với seed khác nhau để giảm nhiễu ngẫu nhiên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checkpoint bằng tập validation; báo cáo kết quả cuối trên tập test độc lập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định tính (visual inspection) video kết quả bên cạnh chỉ số định lượng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627632"/>
            <a:ext cx="5440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99632" y="162763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 chí — Object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3952" y="21945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mAP50 · mAP50-95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frame phát hiện được / mất bóng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(FPS)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3776472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3776472"/>
            <a:ext cx="5440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377647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 chí — Tracking &amp; Phân tích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43434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ổn định quỹ đạo bóng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hợp lý frame đánh bóng &amp; tốc độ ước lượng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ổn định ID hai người chơi · Chất lượng video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THỰC NGHIỆM VÀ ĐÁNH GIÁ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so sánh dự kiến các mô hình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20240" cy="457200"/>
          </a:xfrm>
          <a:prstGeom prst="rect">
            <a:avLst/>
          </a:prstGeom>
          <a:solidFill>
            <a:srgbClr val="12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691640"/>
            <a:ext cx="2148840" cy="457200"/>
          </a:xfrm>
          <a:prstGeom prst="rect">
            <a:avLst/>
          </a:prstGeom>
          <a:solidFill>
            <a:srgbClr val="12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69164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2834640" cy="457200"/>
          </a:xfrm>
          <a:prstGeom prst="rect">
            <a:avLst/>
          </a:prstGeom>
          <a:solidFill>
            <a:srgbClr val="12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6916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1691640"/>
            <a:ext cx="2880360" cy="457200"/>
          </a:xfrm>
          <a:prstGeom prst="rect">
            <a:avLst/>
          </a:prstGeom>
          <a:solidFill>
            <a:srgbClr val="12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25512" y="1691640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32720" y="1691640"/>
            <a:ext cx="1280160" cy="457200"/>
          </a:xfrm>
          <a:prstGeom prst="rect">
            <a:avLst/>
          </a:prstGeom>
          <a:solidFill>
            <a:srgbClr val="1223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05872" y="169164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4884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468880" y="2148840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148840"/>
            <a:ext cx="2002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nhanh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617720" y="214884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148840"/>
            <a:ext cx="2688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Nhanh, nhẹ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452360" y="2148840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2148840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bỏ sót bóng nhỏ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332720" y="2148840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05872" y="2148840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2715768"/>
            <a:ext cx="19202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715768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YOLOv8s/m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468880" y="2715768"/>
            <a:ext cx="21488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715768"/>
            <a:ext cx="2002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mạnh hơn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617720" y="2715768"/>
            <a:ext cx="28346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2715768"/>
            <a:ext cx="2688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tốt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452360" y="2715768"/>
            <a:ext cx="288036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2715768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 hơn YOLOv8n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10332720" y="2715768"/>
            <a:ext cx="128016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05872" y="2715768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48640" y="3282696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282696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YOLOv5l6u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2468880" y="3282696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3282696"/>
            <a:ext cx="2002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Bóng nhỏ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617720" y="328269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3282696"/>
            <a:ext cx="2688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Mạnh hơn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7452360" y="3282696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3282696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Nặng, train lâu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0332720" y="3282696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05872" y="3282696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48640" y="3849624"/>
            <a:ext cx="19202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849624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2468880" y="3849624"/>
            <a:ext cx="21488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849624"/>
            <a:ext cx="2002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thay thế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4617720" y="3849624"/>
            <a:ext cx="28346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3849624"/>
            <a:ext cx="2688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mạnh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7452360" y="3849624"/>
            <a:ext cx="288036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3849624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tích hợp thêm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10332720" y="3849624"/>
            <a:ext cx="128016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05872" y="3849624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548640" y="4416552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441655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2468880" y="4416552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4416552"/>
            <a:ext cx="2002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offline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4617720" y="441655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90872" y="4416552"/>
            <a:ext cx="2688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chính xác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7452360" y="4416552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25512" y="4416552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10332720" y="4416552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05872" y="4416552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548640" y="4983480"/>
            <a:ext cx="19202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98348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RF-DETR</a:t>
            </a:r>
            <a:endParaRPr lang="en-US" sz="1080" dirty="0"/>
          </a:p>
        </p:txBody>
      </p:sp>
      <p:sp>
        <p:nvSpPr>
          <p:cNvPr id="66" name="Shape 64"/>
          <p:cNvSpPr/>
          <p:nvPr/>
        </p:nvSpPr>
        <p:spPr>
          <a:xfrm>
            <a:off x="2468880" y="4983480"/>
            <a:ext cx="21488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42032" y="4983480"/>
            <a:ext cx="2002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sau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4617720" y="4983480"/>
            <a:ext cx="283464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90872" y="4983480"/>
            <a:ext cx="2688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mới, tối ưu accuracy-latency</a:t>
            </a:r>
            <a:endParaRPr lang="en-US" sz="1080" dirty="0"/>
          </a:p>
        </p:txBody>
      </p:sp>
      <p:sp>
        <p:nvSpPr>
          <p:cNvPr id="70" name="Shape 68"/>
          <p:cNvSpPr/>
          <p:nvPr/>
        </p:nvSpPr>
        <p:spPr>
          <a:xfrm>
            <a:off x="7452360" y="4983480"/>
            <a:ext cx="288036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25512" y="4983480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nghiên cứu tích hợp</a:t>
            </a:r>
            <a:endParaRPr lang="en-US" sz="1080" dirty="0"/>
          </a:p>
        </p:txBody>
      </p:sp>
      <p:sp>
        <p:nvSpPr>
          <p:cNvPr id="72" name="Shape 70"/>
          <p:cNvSpPr/>
          <p:nvPr/>
        </p:nvSpPr>
        <p:spPr>
          <a:xfrm>
            <a:off x="10332720" y="4983480"/>
            <a:ext cx="1280160" cy="566928"/>
          </a:xfrm>
          <a:prstGeom prst="rect">
            <a:avLst/>
          </a:prstGeom>
          <a:solidFill>
            <a:srgbClr val="F0F3F6"/>
          </a:solidFill>
          <a:ln w="6350">
            <a:solidFill>
              <a:srgbClr val="E1E6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405872" y="4983480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endParaRPr lang="en-US" sz="1080" dirty="0"/>
          </a:p>
        </p:txBody>
      </p:sp>
      <p:sp>
        <p:nvSpPr>
          <p:cNvPr id="74" name="Text 72"/>
          <p:cNvSpPr/>
          <p:nvPr/>
        </p:nvSpPr>
        <p:spPr>
          <a:xfrm>
            <a:off x="548640" y="56875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chỉ mang tính dự kiến dựa trên đặc điểm kiến trúc đã biết; số liệu Precision/Recall/mAP cụ thể sẽ được xác định sau thực nghiệm Chương 3. Cột "Ưu tiên" phản ánh thứ tự triển khai, không kết luận trước mô hình nào tốt nhất.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4–V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dự kiến &amp; Kế hoạch thực hiện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&amp; BIỆN PHÁP GIẢM THIỂU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64008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chưa đa dạng góc quay/ánh sáng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225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thu thập/gán nhãn; augmentation mạnh (mosaic, color jitter)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20240"/>
            <a:ext cx="64008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933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train mô hình lớn vượt GPU miễn phí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3225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mô hình nhỏ trước; giảm epoch/resolution khi cần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98648"/>
            <a:ext cx="64008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71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mới (RT-DETR/RF-DETR) khó tích hợp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0098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tách biệt trong notebook riêng trước khi tích hợp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898648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898648"/>
            <a:ext cx="64008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71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suy sai khi bóng đổi hướng đột ngột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30098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riêng đoạn đổi hướng; giới hạn số frame nội suy liên tiếp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THỰC HIỆN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1–2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9103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code, dataset, chạy baseline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450592" y="45262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2542032" y="4617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3–5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42032" y="49103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YOLOv8n/v8s, đánh giá kết quả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352544" y="45262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/>
        </p:spPr>
      </p:sp>
      <p:sp>
        <p:nvSpPr>
          <p:cNvPr id="29" name="Text 27"/>
          <p:cNvSpPr/>
          <p:nvPr/>
        </p:nvSpPr>
        <p:spPr>
          <a:xfrm>
            <a:off x="4443984" y="4617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5–6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43984" y="49103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ball tracking &amp; interpolation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254496" y="45262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4617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6–7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5936" y="49103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court keypoints &amp; mini-court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156448" y="45262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/>
        </p:spPr>
      </p:sp>
      <p:sp>
        <p:nvSpPr>
          <p:cNvPr id="35" name="Text 33"/>
          <p:cNvSpPr/>
          <p:nvPr/>
        </p:nvSpPr>
        <p:spPr>
          <a:xfrm>
            <a:off x="8247888" y="4617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7–8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47888" y="49103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RT-DETR / Faster R-CNN nếu đủ thời gian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10058400" y="45262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C6FF3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49840" y="4617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8–9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149840" y="49103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demo, báo cáo, slide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74552" y="4572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31752" y="4572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9436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4008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31752" y="5943600"/>
            <a:ext cx="0" cy="45720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4552" y="6400800"/>
            <a:ext cx="457200" cy="0"/>
          </a:xfrm>
          <a:prstGeom prst="line">
            <a:avLst/>
          </a:prstGeom>
          <a:noFill/>
          <a:ln w="18288">
            <a:solidFill>
              <a:srgbClr val="2A4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8046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chính: bảng so sánh thực nghiệm có hệ thống giữa các họ object detection (YOLO, DETR, two-stage) và tracking/temporal modeling, trên cùng pipeline &amp; tiêu chí đánh giá cho bài toán vật thể nhỏ, tốc độ cao — có thể mở rộng sang bóng bàn, cầu lông chuyên nghiệp.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6F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TIẾP THEO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1B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502152"/>
            <a:ext cx="146304" cy="146304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2918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RF-DETR để so sánh với YOLO / RT-DETR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1B335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9944" y="3502152"/>
            <a:ext cx="146304" cy="146304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2918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hành động: serve, forehand, backhand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1B3358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4178808"/>
            <a:ext cx="146304" cy="146304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96849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điểm rơi bóng và khu vực đánh bóng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96849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1B335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9944" y="4178808"/>
            <a:ext cx="146304" cy="146304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96849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tính tốc độ bằng homography chính xác hơn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645152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1B3358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" y="4855464"/>
            <a:ext cx="146304" cy="146304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6451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giao diện upload video &amp; xem kết quả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645152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1B3358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9944" y="4855464"/>
            <a:ext cx="146304" cy="146304"/>
          </a:xfrm>
          <a:prstGeom prst="ellipse">
            <a:avLst/>
          </a:prstGeom>
          <a:solidFill>
            <a:srgbClr val="C6FF33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6451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nhiều góc camera &amp; nhiều loại sân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cảm ơn.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cương Đề án Tốt nghiệp Thạc sĩ Kỹ thuật · PTIT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2026-09-14T03:24:45Z</dcterms:created>
  <dcterms:modified xsi:type="dcterms:W3CDTF">2026-09-14T03:24:45Z</dcterms:modified>
</cp:coreProperties>
</file>